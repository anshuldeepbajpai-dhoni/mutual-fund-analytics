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E8A33D">
              <a:alpha val="1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601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Mutual Fund Analytics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ETL, Performance Analytics &amp; Interactive Dashboard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40 Real Mutual Fund Schemes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Individual Capstone Project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Analyst Intern  |  June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India's mutual fund industry has grown to over Rs. 81 lakh crore in AUM, but investors and advisors still lack a unified, data-driven way to compare fund performance.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715768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7" name="Text 5"/>
          <p:cNvSpPr/>
          <p:nvPr/>
        </p:nvSpPr>
        <p:spPr>
          <a:xfrm>
            <a:off x="749808" y="271576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227832"/>
            <a:ext cx="22951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Fragmentation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685032"/>
            <a:ext cx="22951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NAV, AUM, and SIP data live in different formats across AMFI sources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2514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5888" y="2715768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/>
          <p:nvPr/>
        </p:nvSpPr>
        <p:spPr>
          <a:xfrm>
            <a:off x="3675888" y="271576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3227832"/>
            <a:ext cx="22951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Risk-Adjusted Comparison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75888" y="3685032"/>
            <a:ext cx="22951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NAV doesn't reveal Sharpe, Alpha, Beta without heavy computation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2514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1968" y="2715768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7" name="Text 15"/>
          <p:cNvSpPr/>
          <p:nvPr/>
        </p:nvSpPr>
        <p:spPr>
          <a:xfrm>
            <a:off x="6601968" y="271576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01968" y="3227832"/>
            <a:ext cx="22951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Benchmark Tracking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01968" y="3685032"/>
            <a:ext cx="22951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investors can't tell if their fund beats Nifty 50 / Nifty 100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26880" y="2514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7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28048" y="2715768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2" name="Text 20"/>
          <p:cNvSpPr/>
          <p:nvPr/>
        </p:nvSpPr>
        <p:spPr>
          <a:xfrm>
            <a:off x="9528048" y="271576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28048" y="3227832"/>
            <a:ext cx="22951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Investor Behaviour Blind Spot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528048" y="3685032"/>
            <a:ext cx="22951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visibility into demographic &amp; geographic SIP patterns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Objective:  </a:t>
            </a:r>
            <a:r>
              <a:rPr lang="en-US" sz="135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full-stack analytics platform — ETL pipeline, SQL database, risk metrics, and interactive dashboard — to close these gaps.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Sources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8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01368"/>
            <a:ext cx="1737360" cy="62179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441448"/>
            <a:ext cx="15544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 Schemes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691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8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801368"/>
            <a:ext cx="1737360" cy="62179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14600" y="2441448"/>
            <a:ext cx="15544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 Houses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8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1801368"/>
            <a:ext cx="1737360" cy="62179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46K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89120" y="2441448"/>
            <a:ext cx="15544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 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8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801368"/>
            <a:ext cx="1737360" cy="62179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32.8K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2441448"/>
            <a:ext cx="15544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8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1801368"/>
            <a:ext cx="1737360" cy="62179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5,000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138160" y="2441448"/>
            <a:ext cx="15544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21240" y="1691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8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21240" y="1801368"/>
            <a:ext cx="1737360" cy="62179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4.5 Yrs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012680" y="2441448"/>
            <a:ext cx="155448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 History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1546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Datasets, All Anchored to Real AMFI India Figures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2103120" cy="438912"/>
          </a:xfrm>
          <a:prstGeom prst="roundRect">
            <a:avLst>
              <a:gd name="adj" fmla="val 37500"/>
            </a:avLst>
          </a:prstGeom>
          <a:solidFill>
            <a:srgbClr val="EAF1FB"/>
          </a:solidFill>
        </p:spPr>
      </p:sp>
      <p:sp>
        <p:nvSpPr>
          <p:cNvPr id="24" name="Text 22"/>
          <p:cNvSpPr/>
          <p:nvPr/>
        </p:nvSpPr>
        <p:spPr>
          <a:xfrm>
            <a:off x="548640" y="3657600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 Master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98064" y="3657600"/>
            <a:ext cx="2103120" cy="438912"/>
          </a:xfrm>
          <a:prstGeom prst="roundRect">
            <a:avLst>
              <a:gd name="adj" fmla="val 37500"/>
            </a:avLst>
          </a:prstGeom>
          <a:solidFill>
            <a:srgbClr val="EAF1FB"/>
          </a:solidFill>
        </p:spPr>
      </p:sp>
      <p:sp>
        <p:nvSpPr>
          <p:cNvPr id="26" name="Text 24"/>
          <p:cNvSpPr/>
          <p:nvPr/>
        </p:nvSpPr>
        <p:spPr>
          <a:xfrm>
            <a:off x="2798064" y="3657600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 History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47488" y="3657600"/>
            <a:ext cx="2103120" cy="438912"/>
          </a:xfrm>
          <a:prstGeom prst="roundRect">
            <a:avLst>
              <a:gd name="adj" fmla="val 37500"/>
            </a:avLst>
          </a:prstGeom>
          <a:solidFill>
            <a:srgbClr val="EAF1FB"/>
          </a:solidFill>
        </p:spPr>
      </p:sp>
      <p:sp>
        <p:nvSpPr>
          <p:cNvPr id="28" name="Text 26"/>
          <p:cNvSpPr/>
          <p:nvPr/>
        </p:nvSpPr>
        <p:spPr>
          <a:xfrm>
            <a:off x="5047488" y="3657600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AUM by AMC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96912" y="3657600"/>
            <a:ext cx="2103120" cy="438912"/>
          </a:xfrm>
          <a:prstGeom prst="roundRect">
            <a:avLst>
              <a:gd name="adj" fmla="val 37500"/>
            </a:avLst>
          </a:prstGeom>
          <a:solidFill>
            <a:srgbClr val="EAF1FB"/>
          </a:solidFill>
        </p:spPr>
      </p:sp>
      <p:sp>
        <p:nvSpPr>
          <p:cNvPr id="30" name="Text 28"/>
          <p:cNvSpPr/>
          <p:nvPr/>
        </p:nvSpPr>
        <p:spPr>
          <a:xfrm>
            <a:off x="7296912" y="3657600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SIP Inflows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46336" y="3657600"/>
            <a:ext cx="2103120" cy="438912"/>
          </a:xfrm>
          <a:prstGeom prst="roundRect">
            <a:avLst>
              <a:gd name="adj" fmla="val 37500"/>
            </a:avLst>
          </a:prstGeom>
          <a:solidFill>
            <a:srgbClr val="EAF1FB"/>
          </a:solidFill>
        </p:spPr>
      </p:sp>
      <p:sp>
        <p:nvSpPr>
          <p:cNvPr id="32" name="Text 30"/>
          <p:cNvSpPr/>
          <p:nvPr/>
        </p:nvSpPr>
        <p:spPr>
          <a:xfrm>
            <a:off x="9546336" y="3657600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Inflows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224528"/>
            <a:ext cx="2103120" cy="438912"/>
          </a:xfrm>
          <a:prstGeom prst="roundRect">
            <a:avLst>
              <a:gd name="adj" fmla="val 37500"/>
            </a:avLst>
          </a:prstGeom>
          <a:solidFill>
            <a:srgbClr val="FBF1E3"/>
          </a:solidFill>
        </p:spPr>
      </p:sp>
      <p:sp>
        <p:nvSpPr>
          <p:cNvPr id="34" name="Text 32"/>
          <p:cNvSpPr/>
          <p:nvPr/>
        </p:nvSpPr>
        <p:spPr>
          <a:xfrm>
            <a:off x="548640" y="4224528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Folio Counts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98064" y="4224528"/>
            <a:ext cx="2103120" cy="438912"/>
          </a:xfrm>
          <a:prstGeom prst="roundRect">
            <a:avLst>
              <a:gd name="adj" fmla="val 37500"/>
            </a:avLst>
          </a:prstGeom>
          <a:solidFill>
            <a:srgbClr val="FBF1E3"/>
          </a:solidFill>
        </p:spPr>
      </p:sp>
      <p:sp>
        <p:nvSpPr>
          <p:cNvPr id="36" name="Text 34"/>
          <p:cNvSpPr/>
          <p:nvPr/>
        </p:nvSpPr>
        <p:spPr>
          <a:xfrm>
            <a:off x="2798064" y="4224528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Scheme Performance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47488" y="4224528"/>
            <a:ext cx="2103120" cy="438912"/>
          </a:xfrm>
          <a:prstGeom prst="roundRect">
            <a:avLst>
              <a:gd name="adj" fmla="val 37500"/>
            </a:avLst>
          </a:prstGeom>
          <a:solidFill>
            <a:srgbClr val="FBF1E3"/>
          </a:solidFill>
        </p:spPr>
      </p:sp>
      <p:sp>
        <p:nvSpPr>
          <p:cNvPr id="38" name="Text 36"/>
          <p:cNvSpPr/>
          <p:nvPr/>
        </p:nvSpPr>
        <p:spPr>
          <a:xfrm>
            <a:off x="5047488" y="4224528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Investor Tx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96912" y="4224528"/>
            <a:ext cx="2103120" cy="438912"/>
          </a:xfrm>
          <a:prstGeom prst="roundRect">
            <a:avLst>
              <a:gd name="adj" fmla="val 37500"/>
            </a:avLst>
          </a:prstGeom>
          <a:solidFill>
            <a:srgbClr val="FBF1E3"/>
          </a:solidFill>
        </p:spPr>
      </p:sp>
      <p:sp>
        <p:nvSpPr>
          <p:cNvPr id="40" name="Text 38"/>
          <p:cNvSpPr/>
          <p:nvPr/>
        </p:nvSpPr>
        <p:spPr>
          <a:xfrm>
            <a:off x="7296912" y="4224528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Portfolio Holdings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546336" y="4224528"/>
            <a:ext cx="2103120" cy="438912"/>
          </a:xfrm>
          <a:prstGeom prst="roundRect">
            <a:avLst>
              <a:gd name="adj" fmla="val 37500"/>
            </a:avLst>
          </a:prstGeom>
          <a:solidFill>
            <a:srgbClr val="FBF1E3"/>
          </a:solidFill>
        </p:spPr>
      </p:sp>
      <p:sp>
        <p:nvSpPr>
          <p:cNvPr id="42" name="Text 40"/>
          <p:cNvSpPr/>
          <p:nvPr/>
        </p:nvSpPr>
        <p:spPr>
          <a:xfrm>
            <a:off x="9546336" y="4224528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AMFI India (amfiindia.com), mfapi.in REST API, NSE/BSE public data. All figures anchored to genuine AMFI quarterly reports and monthly notes.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ETL Pipeline: Extract → Transform → Load → Analyse → Visualise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2931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17373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raw CSVs ingested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validated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78608" y="2880360"/>
            <a:ext cx="219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16352" y="19202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2931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214884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651760"/>
            <a:ext cx="17373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forward-fill,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business rules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2880360"/>
            <a:ext cx="219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4064" y="19202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2931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14884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21224" y="2651760"/>
            <a:ext cx="17373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star schema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dim + 9 fact tables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14032" y="2880360"/>
            <a:ext cx="219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51776" y="19202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2931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88936" y="214884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88936" y="2651760"/>
            <a:ext cx="17373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CAGR, Sharpe, Alpha,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Beta, VaR, scorecard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81744" y="2880360"/>
            <a:ext cx="2194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19488" y="19202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2931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6648" y="214884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56648" y="2651760"/>
            <a:ext cx="17373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charts +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4-page 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C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Database: SQLite star schema — 1 dimension table (dim_fund) + 9 fact tables, indexed on amfi_code and date columns for fast query performance.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Industry Growth Trends</a:t>
            </a:r>
            <a:endParaRPr lang="en-US" sz="3000" dirty="0"/>
          </a:p>
        </p:txBody>
      </p:sp>
      <p:pic>
        <p:nvPicPr>
          <p:cNvPr id="4" name="Image 0" descr="/home/claude/bluestock_mf_capstone/charts/03_sip_inflow_tr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72353"/>
            <a:ext cx="5486400" cy="2696174"/>
          </a:xfrm>
          <a:prstGeom prst="rect">
            <a:avLst/>
          </a:prstGeom>
        </p:spPr>
      </p:pic>
      <p:pic>
        <p:nvPicPr>
          <p:cNvPr id="5" name="Image 1" descr="/home/claude/bluestock_mf_capstone/charts/07_folio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72353"/>
            <a:ext cx="5486400" cy="269617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SIP inflows hit an all-time high of Rs. 31,002 crore in Dec-2025 (+17% YoY).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MF folios nearly doubled, from 13.26 Cr to 26.12 Cr, over the dataset window.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AUM Leadership &amp; Sector Mix</a:t>
            </a:r>
            <a:endParaRPr lang="en-US" sz="3000" dirty="0"/>
          </a:p>
        </p:txBody>
      </p:sp>
      <p:pic>
        <p:nvPicPr>
          <p:cNvPr id="4" name="Image 0" descr="/home/claude/bluestock_mf_capstone/charts/02_aum_growth_by_am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0869"/>
            <a:ext cx="5486400" cy="2939143"/>
          </a:xfrm>
          <a:prstGeom prst="rect">
            <a:avLst/>
          </a:prstGeom>
        </p:spPr>
      </p:pic>
      <p:pic>
        <p:nvPicPr>
          <p:cNvPr id="5" name="Image 1" descr="/home/claude/bluestock_mf_capstone/charts/09_sector_allocation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463040"/>
            <a:ext cx="4114800" cy="411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SBI Mutual Fund leads AUM at Rs. 12.5 lakh crore, ahead of ICICI Prudential and HDFC.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Banking and IT are the two largest sector exposures across equity fund holdings.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Composite Fund Scorecard</a:t>
            </a:r>
            <a:endParaRPr lang="en-US" sz="3000" dirty="0"/>
          </a:p>
        </p:txBody>
      </p:sp>
      <p:pic>
        <p:nvPicPr>
          <p:cNvPr id="4" name="Image 0" descr="/home/claude/bluestock_mf_capstone/charts/12_fund_scorecard_top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69480" y="1737360"/>
            <a:ext cx="43891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= 30% × 3yr Return + 25% × Sharpe + 20% × Alpha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+ 15% × Expense Ratio (inv.) + 10% × Max Drawdown (inv.)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269480" y="2788920"/>
            <a:ext cx="4389120" cy="169164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0" y="297180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 RANKED FUND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0" y="3246120"/>
            <a:ext cx="3931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Kotak Flexicap Fund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(Regular - Growth)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0" y="393192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Score: 71.8 / 100   |   3yr Return: 15.7%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Return vs Risk &amp; Benchmark Comparison</a:t>
            </a:r>
            <a:endParaRPr lang="en-US" sz="3000" dirty="0"/>
          </a:p>
        </p:txBody>
      </p:sp>
      <p:pic>
        <p:nvPicPr>
          <p:cNvPr id="4" name="Image 0" descr="/home/claude/bluestock_mf_capstone/charts/11_return_risk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19072"/>
            <a:ext cx="5669280" cy="3968496"/>
          </a:xfrm>
          <a:prstGeom prst="rect">
            <a:avLst/>
          </a:prstGeom>
        </p:spPr>
      </p:pic>
      <p:pic>
        <p:nvPicPr>
          <p:cNvPr id="5" name="Image 1" descr="/home/claude/bluestock_mf_capstone/charts/10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33749"/>
            <a:ext cx="5486400" cy="29391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4-Page Power BI / Tableau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928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Industry Overview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331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cards · AUM trend · AMC bar chart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8928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Fund Performance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331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Return-risk scatter · scorecard · NAV vs benchmark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8928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Investor Analytics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0" y="2468880"/>
            <a:ext cx="2331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 map · SIP split · demographics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0" y="1691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0" y="18928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SIP &amp; Market Trends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509760" y="2468880"/>
            <a:ext cx="2331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Dual-axis SIP+Nifty · category heatmap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page includes 2+ interactive slicers (Fund House, Category, State, Age Group, City Tier)</a:t>
            </a:r>
            <a:endParaRPr lang="en-US" sz="1250" dirty="0"/>
          </a:p>
        </p:txBody>
      </p:sp>
      <p:pic>
        <p:nvPicPr>
          <p:cNvPr id="17" name="Image 0" descr="/home/claude/bluestock_mf_capstone/charts/04_category_inflow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5864" y="4572000"/>
            <a:ext cx="3669792" cy="19659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Risk Metrics &amp; Investor Behaviour</a:t>
            </a:r>
            <a:endParaRPr lang="en-US" sz="3000" dirty="0"/>
          </a:p>
        </p:txBody>
      </p:sp>
      <p:pic>
        <p:nvPicPr>
          <p:cNvPr id="4" name="Image 0" descr="/home/claude/bluestock_mf_capstone/charts/14_var_cv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19072"/>
            <a:ext cx="5669280" cy="3968496"/>
          </a:xfrm>
          <a:prstGeom prst="rect">
            <a:avLst/>
          </a:prstGeom>
        </p:spPr>
      </p:pic>
      <p:pic>
        <p:nvPicPr>
          <p:cNvPr id="5" name="Image 1" descr="/home/claude/bluestock_mf_capstone/charts/15_sector_h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486400" cy="384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Findings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FOUND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SIP inflows hit an all-time high of Rs. 31,002 crore in Dec-2025 (+17% YoY)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32888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SBI Mutual Fund leads AUM at Rs. 12.5L Cr; Kotak Flexicap tops the composite scorecard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99816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Small-cap funds carry the highest VaR/CVaR and realised volatility of any category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66744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T30 cities drive ~66% of transaction value; B30 contributes a meaningful ~34%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233672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Several funds carry sector concentration risk (HHI &gt; 2,500) not visible in headline volatility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7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8308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Promote the composite scorecard, not raw returns, as the primary comparison tool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sector HHI alongside volatility when assessing equity fund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379476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behavioural findings against real (not simulated) transaction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457200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 tracking B30 contribution — already meaningful, likely growing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E8A33D">
              <a:alpha val="1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Bluestock Fintech  |  Mutual Fund Analytics Capstone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code, notebooks, SQL, and report:  </a:t>
            </a:r>
            <a:r>
              <a:rPr lang="en-US" sz="12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github.com/anshuldeepbajpai-dhoni/Bluestock-mutual-fund-analytics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4444</Words>
  <Application>WPS Presentation</Application>
  <PresentationFormat>On-screen Show (16:9)</PresentationFormat>
  <Paragraphs>265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 - Capstone Presentation</dc:title>
  <dc:creator>Bluestock Fintech</dc:creator>
  <dc:subject>PptxGenJS Presentation</dc:subject>
  <cp:lastModifiedBy>Anshul deep Bajpai</cp:lastModifiedBy>
  <cp:revision>4</cp:revision>
  <dcterms:created xsi:type="dcterms:W3CDTF">2026-06-23T10:07:00Z</dcterms:created>
  <dcterms:modified xsi:type="dcterms:W3CDTF">2026-07-02T14:46:49Z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10EA62EF4B3643FD82963FED6D8C510B_12</vt:lpwstr>
  </property>
  <property fmtid="{D5CDD505-2E9C-101B-9397-08002B2CF9AE}" pid="3" name="KSOProductBuildVer">
    <vt:lpwstr>2057-12.2.0.23203</vt:lpwstr>
  </property>
</Properties>
</file>